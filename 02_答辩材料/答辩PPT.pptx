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DC8F0"/>
                </a:solidFill>
                <a:latin typeface="微软雅黑"/>
                <a:ea typeface="微软雅黑"/>
              </a:rPr>
              <a:t>人工智能综合实训 · 项目二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200" b="1">
                <a:solidFill>
                  <a:srgbClr val="E8F1FA"/>
                </a:solidFill>
                <a:latin typeface="微软雅黑"/>
                <a:ea typeface="微软雅黑"/>
              </a:rPr>
              <a:t>基于 Dify 工作流的智能客服助手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200" b="1">
                <a:solidFill>
                  <a:srgbClr val="E8F1FA"/>
                </a:solidFill>
                <a:latin typeface="微软雅黑"/>
                <a:ea typeface="微软雅黑"/>
              </a:rPr>
              <a:t>与用户情感分析系统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8FA6BE"/>
                </a:solidFill>
                <a:latin typeface="微软雅黑"/>
                <a:ea typeface="微软雅黑"/>
              </a:rPr>
              <a:t>本地大模型推理  ·  微信公众号接入  ·  5 秒实时响应  ·  数据可视化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617720"/>
            <a:ext cx="2011680" cy="18288"/>
          </a:xfrm>
          <a:prstGeom prst="rect">
            <a:avLst/>
          </a:prstGeom>
          <a:solidFill>
            <a:srgbClr val="2A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892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8FA6BE"/>
                </a:solidFill>
                <a:latin typeface="微软雅黑"/>
                <a:ea typeface="微软雅黑"/>
              </a:rPr>
              <a:t>汇报人：____________     指导教师：____________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492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8FA6BE"/>
                </a:solidFill>
                <a:latin typeface="微软雅黑"/>
                <a:ea typeface="微软雅黑"/>
              </a:rPr>
              <a:t>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82296" cy="566928"/>
          </a:xfrm>
          <a:prstGeom prst="rect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8F1FA"/>
                </a:solidFill>
                <a:latin typeface="微软雅黑"/>
                <a:ea typeface="微软雅黑"/>
              </a:rPr>
              <a:t>项目背景与建设目标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11556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FA6BE"/>
                </a:solidFill>
                <a:latin typeface="微软雅黑"/>
                <a:ea typeface="微软雅黑"/>
              </a:rPr>
              <a:t>为什么需要一个能自己回答问题的客服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0820095" cy="10972"/>
          </a:xfrm>
          <a:prstGeom prst="rect">
            <a:avLst/>
          </a:prstGeom>
          <a:solidFill>
            <a:srgbClr val="2A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1206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E8F1FA"/>
                </a:solidFill>
                <a:latin typeface="微软雅黑"/>
                <a:ea typeface="微软雅黑"/>
              </a:rPr>
              <a:t>家电客服的三个现实约束：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E8F1FA"/>
                </a:solidFill>
                <a:latin typeface="微软雅黑"/>
                <a:ea typeface="微软雅黑"/>
              </a:rPr>
              <a:t>· 量大 —— 8.4 万条历史会话，日均 200+ 条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E8F1FA"/>
                </a:solidFill>
                <a:latin typeface="微软雅黑"/>
                <a:ea typeface="微软雅黑"/>
              </a:rPr>
              <a:t>· 重复 —— 安装、漏水、保修、物流占八成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E8F1FA"/>
                </a:solidFill>
                <a:latin typeface="微软雅黑"/>
                <a:ea typeface="微软雅黑"/>
              </a:rPr>
              <a:t>· 时效 —— 用户提问后 5 秒内没有回应就流失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5120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DC8F0"/>
                </a:solidFill>
                <a:latin typeface="微软雅黑"/>
                <a:ea typeface="微软雅黑"/>
              </a:rPr>
              <a:t>目标：用「本地大模型 + 工作流编排 + 企业知识库」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DC8F0"/>
                </a:solidFill>
                <a:latin typeface="微软雅黑"/>
                <a:ea typeface="微软雅黑"/>
              </a:rPr>
              <a:t>替代第一层人工应答，并把会话沉淀成舆情看板。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2560320" cy="1691640"/>
          </a:xfrm>
          <a:prstGeom prst="roundRect">
            <a:avLst>
              <a:gd name="adj" fmla="val 12000"/>
            </a:avLst>
          </a:prstGeom>
          <a:solidFill>
            <a:srgbClr val="12294A"/>
          </a:solidFill>
          <a:ln w="12700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2996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DC8F0"/>
                </a:solidFill>
                <a:latin typeface="微软雅黑"/>
                <a:ea typeface="微软雅黑"/>
              </a:rPr>
              <a:t>任务 1~3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8F1FA"/>
                </a:solidFill>
                <a:latin typeface="微软雅黑"/>
                <a:ea typeface="微软雅黑"/>
              </a:rPr>
              <a:t>基础设施层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8036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FA6BE"/>
                </a:solidFill>
                <a:latin typeface="微软雅黑"/>
                <a:ea typeface="微软雅黑"/>
              </a:rPr>
              <a:t>虚拟机 / Docker / Xinference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1828800"/>
            <a:ext cx="2560320" cy="1691640"/>
          </a:xfrm>
          <a:prstGeom prst="roundRect">
            <a:avLst>
              <a:gd name="adj" fmla="val 12000"/>
            </a:avLst>
          </a:prstGeom>
          <a:solidFill>
            <a:srgbClr val="12294A"/>
          </a:solidFill>
          <a:ln w="12700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202996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DC8F0"/>
                </a:solidFill>
                <a:latin typeface="微软雅黑"/>
                <a:ea typeface="微软雅黑"/>
              </a:rPr>
              <a:t>任务 4~7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377440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8F1FA"/>
                </a:solidFill>
                <a:latin typeface="微软雅黑"/>
                <a:ea typeface="微软雅黑"/>
              </a:rPr>
              <a:t>应用编排层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88036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FA6BE"/>
                </a:solidFill>
                <a:latin typeface="微软雅黑"/>
                <a:ea typeface="微软雅黑"/>
              </a:rPr>
              <a:t>Dify / Cherry Studio / 知识库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794760"/>
            <a:ext cx="2560320" cy="1691640"/>
          </a:xfrm>
          <a:prstGeom prst="roundRect">
            <a:avLst>
              <a:gd name="adj" fmla="val 12000"/>
            </a:avLst>
          </a:prstGeom>
          <a:solidFill>
            <a:srgbClr val="12294A"/>
          </a:solidFill>
          <a:ln w="12700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99592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DC8F0"/>
                </a:solidFill>
                <a:latin typeface="微软雅黑"/>
                <a:ea typeface="微软雅黑"/>
              </a:rPr>
              <a:t>任务 8~10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343400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8F1FA"/>
                </a:solidFill>
                <a:latin typeface="微软雅黑"/>
                <a:ea typeface="微软雅黑"/>
              </a:rPr>
              <a:t>业务链路层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84632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FA6BE"/>
                </a:solidFill>
                <a:latin typeface="微软雅黑"/>
                <a:ea typeface="微软雅黑"/>
              </a:rPr>
              <a:t>MCP / 客服工作流 / 公众号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3794760"/>
            <a:ext cx="2560320" cy="1691640"/>
          </a:xfrm>
          <a:prstGeom prst="roundRect">
            <a:avLst>
              <a:gd name="adj" fmla="val 12000"/>
            </a:avLst>
          </a:prstGeom>
          <a:solidFill>
            <a:srgbClr val="12294A"/>
          </a:solidFill>
          <a:ln w="12700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399592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DC8F0"/>
                </a:solidFill>
                <a:latin typeface="微软雅黑"/>
                <a:ea typeface="微软雅黑"/>
              </a:rPr>
              <a:t>任务 11~14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4343400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8F1FA"/>
                </a:solidFill>
                <a:latin typeface="微软雅黑"/>
                <a:ea typeface="微软雅黑"/>
              </a:rPr>
              <a:t>数据价值层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84632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FA6BE"/>
                </a:solidFill>
                <a:latin typeface="微软雅黑"/>
                <a:ea typeface="微软雅黑"/>
              </a:rPr>
              <a:t>清洗 / LDA / 情感 / 大屏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7391"/>
                </a:solidFill>
                <a:latin typeface="微软雅黑"/>
                <a:ea typeface="微软雅黑"/>
              </a:rPr>
              <a:t>基于 Dify 工作流的智能客服助手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11535" y="635508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7391"/>
                </a:solidFill>
                <a:latin typeface="微软雅黑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82296" cy="566928"/>
          </a:xfrm>
          <a:prstGeom prst="rect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8F1FA"/>
                </a:solidFill>
                <a:latin typeface="微软雅黑"/>
                <a:ea typeface="微软雅黑"/>
              </a:rPr>
              <a:t>系统总体架构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11556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FA6BE"/>
                </a:solidFill>
                <a:latin typeface="微软雅黑"/>
                <a:ea typeface="微软雅黑"/>
              </a:rPr>
              <a:t>三台主机分工，公网只做转发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0820095" cy="10972"/>
          </a:xfrm>
          <a:prstGeom prst="rect">
            <a:avLst/>
          </a:prstGeom>
          <a:solidFill>
            <a:srgbClr val="2A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2834640" cy="1783080"/>
          </a:xfrm>
          <a:prstGeom prst="roundRect">
            <a:avLst>
              <a:gd name="adj" fmla="val 10000"/>
            </a:avLst>
          </a:prstGeom>
          <a:solidFill>
            <a:srgbClr val="12294A"/>
          </a:solidFill>
          <a:ln w="12700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14884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3DC8F0"/>
                </a:solidFill>
                <a:latin typeface="微软雅黑"/>
                <a:ea typeface="微软雅黑"/>
              </a:rPr>
              <a:t>业务主机 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532888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FA6BE"/>
                </a:solidFill>
                <a:latin typeface="微软雅黑"/>
                <a:ea typeface="微软雅黑"/>
              </a:rPr>
              <a:t>Windows 10 · 4C8G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926080"/>
            <a:ext cx="2514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E8F1FA"/>
                </a:solidFill>
                <a:latin typeface="微软雅黑"/>
                <a:ea typeface="微软雅黑"/>
              </a:rPr>
              <a:t>微信回调 / frp 客户端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E8F1FA"/>
                </a:solidFill>
                <a:latin typeface="微软雅黑"/>
                <a:ea typeface="微软雅黑"/>
              </a:rPr>
              <a:t>Jupyter 数据分析 / MCP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965960"/>
            <a:ext cx="2834640" cy="1783080"/>
          </a:xfrm>
          <a:prstGeom prst="roundRect">
            <a:avLst>
              <a:gd name="adj" fmla="val 10000"/>
            </a:avLst>
          </a:prstGeom>
          <a:solidFill>
            <a:srgbClr val="12294A"/>
          </a:solidFill>
          <a:ln w="12700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8" y="214884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3DC8F0"/>
                </a:solidFill>
                <a:latin typeface="微软雅黑"/>
                <a:ea typeface="微软雅黑"/>
              </a:rPr>
              <a:t>智能中枢 P2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532888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FA6BE"/>
                </a:solidFill>
                <a:latin typeface="微软雅黑"/>
                <a:ea typeface="微软雅黑"/>
              </a:rPr>
              <a:t>openEuler · 8C9G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926080"/>
            <a:ext cx="2514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E8F1FA"/>
                </a:solidFill>
                <a:latin typeface="微软雅黑"/>
                <a:ea typeface="微软雅黑"/>
              </a:rPr>
              <a:t>Dify（11 容器）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E8F1FA"/>
                </a:solidFill>
                <a:latin typeface="微软雅黑"/>
                <a:ea typeface="微软雅黑"/>
              </a:rPr>
              <a:t>Xinference · MySQL 8.0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965960"/>
            <a:ext cx="2834640" cy="1783080"/>
          </a:xfrm>
          <a:prstGeom prst="roundRect">
            <a:avLst>
              <a:gd name="adj" fmla="val 10000"/>
            </a:avLst>
          </a:prstGeom>
          <a:solidFill>
            <a:srgbClr val="12294A"/>
          </a:solidFill>
          <a:ln w="12700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67928" y="214884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3DC8F0"/>
                </a:solidFill>
                <a:latin typeface="微软雅黑"/>
                <a:ea typeface="微软雅黑"/>
              </a:rPr>
              <a:t>公网入口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7928" y="2532888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FA6BE"/>
                </a:solidFill>
                <a:latin typeface="微软雅黑"/>
                <a:ea typeface="微软雅黑"/>
              </a:rPr>
              <a:t>Ubuntu · 2C2G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2926080"/>
            <a:ext cx="2514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E8F1FA"/>
                </a:solidFill>
                <a:latin typeface="微软雅黑"/>
                <a:ea typeface="微软雅黑"/>
              </a:rPr>
              <a:t>frps 端口转发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E8F1FA"/>
                </a:solidFill>
                <a:latin typeface="微软雅黑"/>
                <a:ea typeface="微软雅黑"/>
              </a:rPr>
              <a:t>203.0.113.10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611880" y="2697480"/>
            <a:ext cx="914399" cy="256032"/>
          </a:xfrm>
          <a:prstGeom prst="rightArrow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7406640" y="2697480"/>
            <a:ext cx="914400" cy="256032"/>
          </a:xfrm>
          <a:prstGeom prst="rightArrow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299923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8FA6BE"/>
                </a:solidFill>
                <a:latin typeface="微软雅黑"/>
                <a:ea typeface="微软雅黑"/>
              </a:rPr>
              <a:t>内网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99923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8FA6BE"/>
                </a:solidFill>
                <a:latin typeface="微软雅黑"/>
                <a:ea typeface="微软雅黑"/>
              </a:rPr>
              <a:t>公网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160520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8FA6BE"/>
                </a:solidFill>
                <a:latin typeface="微软雅黑"/>
                <a:ea typeface="微软雅黑"/>
              </a:rPr>
              <a:t>分工不是随意划分的：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8FA6BE"/>
                </a:solidFill>
                <a:latin typeface="微软雅黑"/>
                <a:ea typeface="微软雅黑"/>
              </a:rPr>
              <a:t>· 模型推理与工作流编排需要大内存多核 → 虚拟机；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8FA6BE"/>
                </a:solidFill>
                <a:latin typeface="微软雅黑"/>
                <a:ea typeface="微软雅黑"/>
              </a:rPr>
              <a:t>· 微信回调必须能访问内网 Dify，同时要跑签名校验 → Windows；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8FA6BE"/>
                </a:solidFill>
                <a:latin typeface="微软雅黑"/>
                <a:ea typeface="微软雅黑"/>
              </a:rPr>
              <a:t>· 公网入口只做 TCP 转发，2 核 2G 足够，也把攻击面限制在一台可随时重建的机器上。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7391"/>
                </a:solidFill>
                <a:latin typeface="微软雅黑"/>
                <a:ea typeface="微软雅黑"/>
              </a:rPr>
              <a:t>基于 Dify 工作流的智能客服助手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1535" y="635508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7391"/>
                </a:solidFill>
                <a:latin typeface="微软雅黑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82296" cy="566928"/>
          </a:xfrm>
          <a:prstGeom prst="rect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8F1FA"/>
                </a:solidFill>
                <a:latin typeface="微软雅黑"/>
                <a:ea typeface="微软雅黑"/>
              </a:rPr>
              <a:t>技术栈与版本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11556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FA6BE"/>
                </a:solidFill>
                <a:latin typeface="微软雅黑"/>
                <a:ea typeface="微软雅黑"/>
              </a:rPr>
              <a:t>全部版本经过实测验证，避免「课件写了但跑不起来」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0820095" cy="10972"/>
          </a:xfrm>
          <a:prstGeom prst="rect">
            <a:avLst/>
          </a:prstGeom>
          <a:solidFill>
            <a:srgbClr val="2A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783080"/>
          <a:ext cx="1069848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743200"/>
                <a:gridCol w="2194560"/>
                <a:gridCol w="466344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层次</a:t>
                      </a:r>
                    </a:p>
                  </a:txBody>
                  <a:tcPr marL="73152" marR="54864" anchor="ctr">
                    <a:solidFill>
                      <a:srgbClr val="1633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选型</a:t>
                      </a:r>
                    </a:p>
                  </a:txBody>
                  <a:tcPr marL="73152" marR="54864" anchor="ctr">
                    <a:solidFill>
                      <a:srgbClr val="1633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版本 / 规格</a:t>
                      </a:r>
                    </a:p>
                  </a:txBody>
                  <a:tcPr marL="73152" marR="54864" anchor="ctr">
                    <a:solidFill>
                      <a:srgbClr val="1633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选择理由</a:t>
                      </a:r>
                    </a:p>
                  </a:txBody>
                  <a:tcPr marL="73152" marR="54864" anchor="ctr">
                    <a:solidFill>
                      <a:srgbClr val="16335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推理</a:t>
                      </a:r>
                    </a:p>
                  </a:txBody>
                  <a:tcPr marL="73152" marR="54864" anchor="ctr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Xinference + llama.cpp</a:t>
                      </a:r>
                    </a:p>
                  </a:txBody>
                  <a:tcPr marL="73152" marR="54864" anchor="ctr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1.17.1-cpu</a:t>
                      </a:r>
                    </a:p>
                  </a:txBody>
                  <a:tcPr marL="73152" marR="54864" anchor="ctr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课件要求，且支持 GGUF 低成本量化</a:t>
                      </a:r>
                    </a:p>
                  </a:txBody>
                  <a:tcPr marL="73152" marR="54864" anchor="ctr">
                    <a:solidFill>
                      <a:srgbClr val="1229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模型</a:t>
                      </a:r>
                    </a:p>
                  </a:txBody>
                  <a:tcPr marL="73152" marR="54864" anchor="ctr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Qwen2.5-1.5B-Instruct</a:t>
                      </a:r>
                    </a:p>
                  </a:txBody>
                  <a:tcPr marL="73152" marR="54864" anchor="ctr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Q4_K_M · 986 MB</a:t>
                      </a:r>
                    </a:p>
                  </a:txBody>
                  <a:tcPr marL="73152" marR="54864" anchor="ctr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CPU 可跑，中文问答够用</a:t>
                      </a:r>
                    </a:p>
                  </a:txBody>
                  <a:tcPr marL="73152" marR="54864" anchor="ctr">
                    <a:solidFill>
                      <a:srgbClr val="0A19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编排</a:t>
                      </a:r>
                    </a:p>
                  </a:txBody>
                  <a:tcPr marL="73152" marR="54864" anchor="ctr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Dify</a:t>
                      </a:r>
                    </a:p>
                  </a:txBody>
                  <a:tcPr marL="73152" marR="54864" anchor="ctr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1.8.0</a:t>
                      </a:r>
                    </a:p>
                  </a:txBody>
                  <a:tcPr marL="73152" marR="54864" anchor="ctr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可视化工作流 + 知识库 + MCP 支持</a:t>
                      </a:r>
                    </a:p>
                  </a:txBody>
                  <a:tcPr marL="73152" marR="54864" anchor="ctr">
                    <a:solidFill>
                      <a:srgbClr val="1229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存储</a:t>
                      </a:r>
                    </a:p>
                  </a:txBody>
                  <a:tcPr marL="73152" marR="54864" anchor="ctr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MySQL</a:t>
                      </a:r>
                    </a:p>
                  </a:txBody>
                  <a:tcPr marL="73152" marR="54864" anchor="ctr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8.0</a:t>
                      </a:r>
                    </a:p>
                  </a:txBody>
                  <a:tcPr marL="73152" marR="54864" anchor="ctr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业务库与数据源同栈</a:t>
                      </a:r>
                    </a:p>
                  </a:txBody>
                  <a:tcPr marL="73152" marR="54864" anchor="ctr">
                    <a:solidFill>
                      <a:srgbClr val="0A19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向量库</a:t>
                      </a:r>
                    </a:p>
                  </a:txBody>
                  <a:tcPr marL="73152" marR="54864" anchor="ctr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Weaviate</a:t>
                      </a:r>
                    </a:p>
                  </a:txBody>
                  <a:tcPr marL="73152" marR="54864" anchor="ctr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Dify 内置</a:t>
                      </a:r>
                    </a:p>
                  </a:txBody>
                  <a:tcPr marL="73152" marR="54864" anchor="ctr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免额外部署</a:t>
                      </a:r>
                    </a:p>
                  </a:txBody>
                  <a:tcPr marL="73152" marR="54864" anchor="ctr">
                    <a:solidFill>
                      <a:srgbClr val="1229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客户端</a:t>
                      </a:r>
                    </a:p>
                  </a:txBody>
                  <a:tcPr marL="73152" marR="54864" anchor="ctr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Cherry Studio</a:t>
                      </a:r>
                    </a:p>
                  </a:txBody>
                  <a:tcPr marL="73152" marR="54864" anchor="ctr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1.9.13</a:t>
                      </a:r>
                    </a:p>
                  </a:txBody>
                  <a:tcPr marL="73152" marR="54864" anchor="ctr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对接 Xinference 做效果对比</a:t>
                      </a:r>
                    </a:p>
                  </a:txBody>
                  <a:tcPr marL="73152" marR="54864" anchor="ctr">
                    <a:solidFill>
                      <a:srgbClr val="0A19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分析</a:t>
                      </a:r>
                    </a:p>
                  </a:txBody>
                  <a:tcPr marL="73152" marR="54864" anchor="ctr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pandas / jieba / SnowNLP</a:t>
                      </a:r>
                    </a:p>
                  </a:txBody>
                  <a:tcPr marL="73152" marR="54864" anchor="ctr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73152" marR="54864" anchor="ctr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清洗、分词、情感基线</a:t>
                      </a:r>
                    </a:p>
                  </a:txBody>
                  <a:tcPr marL="73152" marR="54864" anchor="ctr">
                    <a:solidFill>
                      <a:srgbClr val="1229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可视化</a:t>
                      </a:r>
                    </a:p>
                  </a:txBody>
                  <a:tcPr marL="73152" marR="54864" anchor="ctr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数据魔方</a:t>
                      </a:r>
                    </a:p>
                  </a:txBody>
                  <a:tcPr marL="73152" marR="54864" anchor="ctr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低代码平台</a:t>
                      </a:r>
                    </a:p>
                  </a:txBody>
                  <a:tcPr marL="73152" marR="54864" anchor="ctr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任务书指定</a:t>
                      </a:r>
                    </a:p>
                  </a:txBody>
                  <a:tcPr marL="73152" marR="54864" anchor="ctr">
                    <a:solidFill>
                      <a:srgbClr val="0A193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7391"/>
                </a:solidFill>
                <a:latin typeface="微软雅黑"/>
                <a:ea typeface="微软雅黑"/>
              </a:rPr>
              <a:t>基于 Dify 工作流的智能客服助手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35508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7391"/>
                </a:solidFill>
                <a:latin typeface="微软雅黑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82296" cy="566928"/>
          </a:xfrm>
          <a:prstGeom prst="rect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8F1FA"/>
                </a:solidFill>
                <a:latin typeface="微软雅黑"/>
                <a:ea typeface="微软雅黑"/>
              </a:rPr>
              <a:t>本地大模型：为什么用 GGUF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11556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FA6BE"/>
                </a:solidFill>
                <a:latin typeface="微软雅黑"/>
                <a:ea typeface="微软雅黑"/>
              </a:rPr>
              <a:t>9.2 GB 内存跑不动 PyTorch，但跑得动 llama.cpp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0820095" cy="10972"/>
          </a:xfrm>
          <a:prstGeom prst="rect">
            <a:avLst/>
          </a:prstGeom>
          <a:solidFill>
            <a:srgbClr val="2A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920240"/>
            <a:ext cx="82296" cy="82296"/>
          </a:xfrm>
          <a:prstGeom prst="ellipse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1828800"/>
            <a:ext cx="502920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50" b="1">
                <a:solidFill>
                  <a:srgbClr val="E8F1FA"/>
                </a:solidFill>
                <a:latin typeface="微软雅黑"/>
                <a:ea typeface="微软雅黑"/>
              </a:rPr>
              <a:t>内存</a:t>
            </a:r>
            <a:r>
              <a:rPr sz="1350">
                <a:solidFill>
                  <a:srgbClr val="8FA6BE"/>
                </a:solidFill>
                <a:latin typeface="微软雅黑"/>
                <a:ea typeface="微软雅黑"/>
              </a:rPr>
              <a:t>  PyTorch 后端 + 1.5B 权重逼近上限，GGUF 只需 1.8 GB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971800"/>
            <a:ext cx="82296" cy="82296"/>
          </a:xfrm>
          <a:prstGeom prst="ellipse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2880360"/>
            <a:ext cx="502920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50" b="1">
                <a:solidFill>
                  <a:srgbClr val="E8F1FA"/>
                </a:solidFill>
                <a:latin typeface="微软雅黑"/>
                <a:ea typeface="微软雅黑"/>
              </a:rPr>
              <a:t>下载</a:t>
            </a:r>
            <a:r>
              <a:rPr sz="1350">
                <a:solidFill>
                  <a:srgbClr val="8FA6BE"/>
                </a:solidFill>
                <a:latin typeface="微软雅黑"/>
                <a:ea typeface="微软雅黑"/>
              </a:rPr>
              <a:t>  镜像站限流（HTTP 429），复用本机 Ollama 已缓存的权重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023359"/>
            <a:ext cx="82296" cy="82296"/>
          </a:xfrm>
          <a:prstGeom prst="ellipse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3931920"/>
            <a:ext cx="502920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50" b="1">
                <a:solidFill>
                  <a:srgbClr val="E8F1FA"/>
                </a:solidFill>
                <a:latin typeface="微软雅黑"/>
                <a:ea typeface="微软雅黑"/>
              </a:rPr>
              <a:t>启动</a:t>
            </a:r>
            <a:r>
              <a:rPr sz="1350">
                <a:solidFill>
                  <a:srgbClr val="8FA6BE"/>
                </a:solidFill>
                <a:latin typeface="微软雅黑"/>
                <a:ea typeface="微软雅黑"/>
              </a:rPr>
              <a:t>  三个隐藏要求：model_engine 必填、size 写 "1_5"、n_gpu 只认 auto</a:t>
            </a:r>
          </a:p>
        </p:txBody>
      </p:sp>
      <p:pic>
        <p:nvPicPr>
          <p:cNvPr id="13" name="Picture 12" descr="slide_pe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783080"/>
            <a:ext cx="5669280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97880" y="470916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8FA6BE"/>
                </a:solidFill>
                <a:latin typeface="微软雅黑"/>
                <a:ea typeface="微软雅黑"/>
              </a:rPr>
              <a:t>图：同一台机器，仅电源策略不同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206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DC8F0"/>
                </a:solidFill>
                <a:latin typeface="微软雅黑"/>
                <a:ea typeface="微软雅黑"/>
              </a:rPr>
              <a:t>结论：CPU 推理的性能瓶颈，第一位是宿主机频率，第二位才是模型与量化。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7391"/>
                </a:solidFill>
                <a:latin typeface="微软雅黑"/>
                <a:ea typeface="微软雅黑"/>
              </a:rPr>
              <a:t>基于 Dify 工作流的智能客服助手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35508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7391"/>
                </a:solidFill>
                <a:latin typeface="微软雅黑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82296" cy="566928"/>
          </a:xfrm>
          <a:prstGeom prst="rect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8F1FA"/>
                </a:solidFill>
                <a:latin typeface="微软雅黑"/>
                <a:ea typeface="微软雅黑"/>
              </a:rPr>
              <a:t>一个默认值引发的连锁故障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11556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FA6BE"/>
                </a:solidFill>
                <a:latin typeface="微软雅黑"/>
                <a:ea typeface="微软雅黑"/>
              </a:rPr>
              <a:t>「Cluster is not available」其实是超时，不是真挂了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0820095" cy="10972"/>
          </a:xfrm>
          <a:prstGeom prst="rect">
            <a:avLst/>
          </a:prstGeom>
          <a:solidFill>
            <a:srgbClr val="2A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846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E8F1FA"/>
                </a:solidFill>
                <a:latin typeface="微软雅黑"/>
                <a:ea typeface="微软雅黑"/>
              </a:rPr>
              <a:t>现象：容器创建成功，日志也打印了 Uvicorn 已启动，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E8F1FA"/>
                </a:solidFill>
                <a:latin typeface="微软雅黑"/>
                <a:ea typeface="微软雅黑"/>
              </a:rPr>
              <a:t>却仍然报集群不可用，反复重启。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246120"/>
            <a:ext cx="10424160" cy="54864"/>
          </a:xfrm>
          <a:prstGeom prst="rect">
            <a:avLst/>
          </a:prstGeom>
          <a:solidFill>
            <a:srgbClr val="2A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172968"/>
            <a:ext cx="146304" cy="146304"/>
          </a:xfrm>
          <a:prstGeom prst="ellipse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429000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8FA6BE"/>
                </a:solidFill>
                <a:latin typeface="微软雅黑"/>
                <a:ea typeface="微软雅黑"/>
              </a:rPr>
              <a:t>0 s</a:t>
            </a:r>
          </a:p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8FA6BE"/>
                </a:solidFill>
                <a:latin typeface="微软雅黑"/>
                <a:ea typeface="微软雅黑"/>
              </a:rPr>
              <a:t>容器启动</a:t>
            </a:r>
          </a:p>
        </p:txBody>
      </p:sp>
      <p:sp>
        <p:nvSpPr>
          <p:cNvPr id="11" name="Oval 10"/>
          <p:cNvSpPr/>
          <p:nvPr/>
        </p:nvSpPr>
        <p:spPr>
          <a:xfrm>
            <a:off x="3108960" y="3172968"/>
            <a:ext cx="146304" cy="146304"/>
          </a:xfrm>
          <a:prstGeom prst="ellipse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3429000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8FA6BE"/>
                </a:solidFill>
                <a:latin typeface="微软雅黑"/>
                <a:ea typeface="微软雅黑"/>
              </a:rPr>
              <a:t>25 s</a:t>
            </a:r>
          </a:p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8FA6BE"/>
                </a:solidFill>
                <a:latin typeface="微软雅黑"/>
                <a:ea typeface="微软雅黑"/>
              </a:rPr>
              <a:t>判定失败</a:t>
            </a:r>
          </a:p>
        </p:txBody>
      </p:sp>
      <p:sp>
        <p:nvSpPr>
          <p:cNvPr id="13" name="Oval 12"/>
          <p:cNvSpPr/>
          <p:nvPr/>
        </p:nvSpPr>
        <p:spPr>
          <a:xfrm>
            <a:off x="4754880" y="3172968"/>
            <a:ext cx="146304" cy="146304"/>
          </a:xfrm>
          <a:prstGeom prst="ellipse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3429000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8FA6BE"/>
                </a:solidFill>
                <a:latin typeface="微软雅黑"/>
                <a:ea typeface="微软雅黑"/>
              </a:rPr>
              <a:t>33 s</a:t>
            </a:r>
          </a:p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8FA6BE"/>
                </a:solidFill>
                <a:latin typeface="微软雅黑"/>
                <a:ea typeface="微软雅黑"/>
              </a:rPr>
              <a:t>supervisor 就绪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0" y="3172968"/>
            <a:ext cx="146304" cy="146304"/>
          </a:xfrm>
          <a:prstGeom prst="ellipse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3429000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8FA6BE"/>
                </a:solidFill>
                <a:latin typeface="微软雅黑"/>
                <a:ea typeface="微软雅黑"/>
              </a:rPr>
              <a:t>44 s</a:t>
            </a:r>
          </a:p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8FA6BE"/>
                </a:solidFill>
                <a:latin typeface="微软雅黑"/>
                <a:ea typeface="微软雅黑"/>
              </a:rPr>
              <a:t>Uvicorn 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343400"/>
            <a:ext cx="5120640" cy="1417320"/>
          </a:xfrm>
          <a:prstGeom prst="roundRect">
            <a:avLst>
              <a:gd name="adj" fmla="val 10000"/>
            </a:avLst>
          </a:prstGeom>
          <a:solidFill>
            <a:srgbClr val="12294A"/>
          </a:solidFill>
          <a:ln w="12700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498848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F5A524"/>
                </a:solidFill>
                <a:latin typeface="微软雅黑"/>
                <a:ea typeface="微软雅黑"/>
              </a:rPr>
              <a:t>默认窗口 = 5 次 × 5 秒 = 25 秒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F5A524"/>
                </a:solidFill>
                <a:latin typeface="微软雅黑"/>
                <a:ea typeface="微软雅黑"/>
              </a:rPr>
              <a:t>冷启动实测 33 ~ 44 秒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F5A524"/>
                </a:solidFill>
                <a:latin typeface="微软雅黑"/>
                <a:ea typeface="微软雅黑"/>
              </a:rPr>
              <a:t>→ 每次都差 8 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343400"/>
            <a:ext cx="5120640" cy="1417320"/>
          </a:xfrm>
          <a:prstGeom prst="roundRect">
            <a:avLst>
              <a:gd name="adj" fmla="val 10000"/>
            </a:avLst>
          </a:prstGeom>
          <a:solidFill>
            <a:srgbClr val="12294A"/>
          </a:solidFill>
          <a:ln w="12700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498848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3DC8F0"/>
                </a:solidFill>
                <a:latin typeface="微软雅黑"/>
                <a:ea typeface="微软雅黑"/>
              </a:rPr>
              <a:t>用环境变量放宽到 60 次 × 5 秒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3DC8F0"/>
                </a:solidFill>
                <a:latin typeface="微软雅黑"/>
                <a:ea typeface="微软雅黑"/>
              </a:rPr>
              <a:t>单次超时 120 秒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3DC8F0"/>
                </a:solidFill>
                <a:latin typeface="微软雅黑"/>
                <a:ea typeface="微软雅黑"/>
              </a:rPr>
              <a:t>→ 一次通过，无需改镜像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7391"/>
                </a:solidFill>
                <a:latin typeface="微软雅黑"/>
                <a:ea typeface="微软雅黑"/>
              </a:rPr>
              <a:t>基于 Dify 工作流的智能客服助手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11535" y="635508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7391"/>
                </a:solidFill>
                <a:latin typeface="微软雅黑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82296" cy="566928"/>
          </a:xfrm>
          <a:prstGeom prst="rect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8F1FA"/>
                </a:solidFill>
                <a:latin typeface="微软雅黑"/>
                <a:ea typeface="微软雅黑"/>
              </a:rPr>
              <a:t>Dify 客服工作流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11556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FA6BE"/>
                </a:solidFill>
                <a:latin typeface="微软雅黑"/>
                <a:ea typeface="微软雅黑"/>
              </a:rPr>
              <a:t>四个节点，链路刻意做短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0820095" cy="10972"/>
          </a:xfrm>
          <a:prstGeom prst="rect">
            <a:avLst/>
          </a:prstGeom>
          <a:solidFill>
            <a:srgbClr val="2A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2331720" cy="1234440"/>
          </a:xfrm>
          <a:prstGeom prst="roundRect">
            <a:avLst>
              <a:gd name="adj" fmla="val 12000"/>
            </a:avLst>
          </a:prstGeom>
          <a:solidFill>
            <a:srgbClr val="12294A"/>
          </a:solidFill>
          <a:ln w="12700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E8F1FA"/>
                </a:solidFill>
                <a:latin typeface="微软雅黑"/>
                <a:ea typeface="微软雅黑"/>
              </a:rPr>
              <a:t>开始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8FA6BE"/>
                </a:solidFill>
                <a:latin typeface="微软雅黑"/>
                <a:ea typeface="微软雅黑"/>
              </a:rPr>
              <a:t>接收用户原话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4680" y="2606040"/>
            <a:ext cx="457200" cy="219456"/>
          </a:xfrm>
          <a:prstGeom prst="rightArrow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0" y="2103120"/>
            <a:ext cx="2331720" cy="1234440"/>
          </a:xfrm>
          <a:prstGeom prst="roundRect">
            <a:avLst>
              <a:gd name="adj" fmla="val 12000"/>
            </a:avLst>
          </a:prstGeom>
          <a:solidFill>
            <a:srgbClr val="12294A"/>
          </a:solidFill>
          <a:ln w="12700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240280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E8F1FA"/>
                </a:solidFill>
                <a:latin typeface="微软雅黑"/>
                <a:ea typeface="微软雅黑"/>
              </a:rPr>
              <a:t>知识检索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69748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8FA6BE"/>
                </a:solidFill>
                <a:latin typeface="微软雅黑"/>
                <a:ea typeface="微软雅黑"/>
              </a:rPr>
              <a:t>TopK = 4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35040" y="2606040"/>
            <a:ext cx="457200" cy="219456"/>
          </a:xfrm>
          <a:prstGeom prst="rightArrow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37959" y="2103120"/>
            <a:ext cx="2331720" cy="1234440"/>
          </a:xfrm>
          <a:prstGeom prst="roundRect">
            <a:avLst>
              <a:gd name="adj" fmla="val 12000"/>
            </a:avLst>
          </a:prstGeom>
          <a:solidFill>
            <a:srgbClr val="12294A"/>
          </a:solidFill>
          <a:ln w="12700">
            <a:solidFill>
              <a:srgbClr val="3DC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59" y="2240280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3DC8F0"/>
                </a:solidFill>
                <a:latin typeface="微软雅黑"/>
                <a:ea typeface="微软雅黑"/>
              </a:rPr>
              <a:t>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269748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8FA6BE"/>
                </a:solidFill>
                <a:latin typeface="微软雅黑"/>
                <a:ea typeface="微软雅黑"/>
              </a:rPr>
              <a:t>qwen-plus · 120 token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915400" y="2606040"/>
            <a:ext cx="457200" cy="219456"/>
          </a:xfrm>
          <a:prstGeom prst="rightArrow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18319" y="2103120"/>
            <a:ext cx="2331720" cy="1234440"/>
          </a:xfrm>
          <a:prstGeom prst="roundRect">
            <a:avLst>
              <a:gd name="adj" fmla="val 12000"/>
            </a:avLst>
          </a:prstGeom>
          <a:solidFill>
            <a:srgbClr val="12294A"/>
          </a:solidFill>
          <a:ln w="12700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19" y="2240280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E8F1FA"/>
                </a:solidFill>
                <a:latin typeface="微软雅黑"/>
                <a:ea typeface="微软雅黑"/>
              </a:rPr>
              <a:t>结束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19" y="269748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8FA6BE"/>
                </a:solidFill>
                <a:latin typeface="微软雅黑"/>
                <a:ea typeface="微软雅黑"/>
              </a:rPr>
              <a:t>输出答案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7947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3DC8F0"/>
                </a:solidFill>
                <a:latin typeface="微软雅黑"/>
                <a:ea typeface="微软雅黑"/>
              </a:rPr>
              <a:t>两个关键设计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4343400"/>
            <a:ext cx="82296" cy="82296"/>
          </a:xfrm>
          <a:prstGeom prst="ellipse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4251960"/>
            <a:ext cx="51206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250" b="1">
                <a:solidFill>
                  <a:srgbClr val="E8F1FA"/>
                </a:solidFill>
                <a:latin typeface="微软雅黑"/>
                <a:ea typeface="微软雅黑"/>
              </a:rPr>
              <a:t>占位符</a:t>
            </a:r>
            <a:r>
              <a:rPr sz="1250">
                <a:solidFill>
                  <a:srgbClr val="8FA6BE"/>
                </a:solidFill>
                <a:latin typeface="微软雅黑"/>
                <a:ea typeface="微软雅黑"/>
              </a:rPr>
              <a:t>  提示词必须写 {{#context#}}，否则检索结果不会注入</a:t>
            </a:r>
          </a:p>
        </p:txBody>
      </p:sp>
      <p:sp>
        <p:nvSpPr>
          <p:cNvPr id="25" name="Oval 24"/>
          <p:cNvSpPr/>
          <p:nvPr/>
        </p:nvSpPr>
        <p:spPr>
          <a:xfrm>
            <a:off x="822960" y="5257800"/>
            <a:ext cx="82296" cy="82296"/>
          </a:xfrm>
          <a:prstGeom prst="ellipse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0704" y="5166360"/>
            <a:ext cx="51206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250" b="1">
                <a:solidFill>
                  <a:srgbClr val="E8F1FA"/>
                </a:solidFill>
                <a:latin typeface="微软雅黑"/>
                <a:ea typeface="微软雅黑"/>
              </a:rPr>
              <a:t>分层约束</a:t>
            </a:r>
            <a:r>
              <a:rPr sz="1250">
                <a:solidFill>
                  <a:srgbClr val="8FA6BE"/>
                </a:solidFill>
                <a:latin typeface="微软雅黑"/>
                <a:ea typeface="微软雅黑"/>
              </a:rPr>
              <a:t>  业务问题依资料答，非业务问题不硬扯产品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794760"/>
            <a:ext cx="5303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8FA6BE"/>
                </a:solidFill>
                <a:latin typeface="微软雅黑"/>
                <a:ea typeface="微软雅黑"/>
              </a:rPr>
              <a:t>效果对比：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8FA6BE"/>
                </a:solidFill>
                <a:latin typeface="微软雅黑"/>
                <a:ea typeface="微软雅黑"/>
              </a:rPr>
              <a:t>· 修正前：「R40-A0 额定功率」→ 模型编造 / 说不知道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8FA6BE"/>
                </a:solidFill>
                <a:latin typeface="微软雅黑"/>
                <a:ea typeface="微软雅黑"/>
              </a:rPr>
              <a:t>· 修正后：准确答出 2000 W，并引用知识库原文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7391"/>
                </a:solidFill>
                <a:latin typeface="微软雅黑"/>
                <a:ea typeface="微软雅黑"/>
              </a:rPr>
              <a:t>基于 Dify 工作流的智能客服助手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11535" y="635508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7391"/>
                </a:solidFill>
                <a:latin typeface="微软雅黑"/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82296" cy="566928"/>
          </a:xfrm>
          <a:prstGeom prst="rect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8F1FA"/>
                </a:solidFill>
                <a:latin typeface="微软雅黑"/>
                <a:ea typeface="微软雅黑"/>
              </a:rPr>
              <a:t>MCP 数据库服务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11556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FA6BE"/>
                </a:solidFill>
                <a:latin typeface="微软雅黑"/>
                <a:ea typeface="微软雅黑"/>
              </a:rPr>
              <a:t>把 MySQL 的查询能力包装成模型可调用的工具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0820095" cy="10972"/>
          </a:xfrm>
          <a:prstGeom prst="rect">
            <a:avLst/>
          </a:prstGeom>
          <a:solidFill>
            <a:srgbClr val="2A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920240"/>
            <a:ext cx="82296" cy="82296"/>
          </a:xfrm>
          <a:prstGeom prst="ellipse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1828800"/>
            <a:ext cx="51206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b="1">
                <a:solidFill>
                  <a:srgbClr val="E8F1FA"/>
                </a:solidFill>
                <a:latin typeface="微软雅黑"/>
                <a:ea typeface="微软雅黑"/>
              </a:rPr>
              <a:t>为什么自己写</a:t>
            </a:r>
            <a:r>
              <a:rPr sz="1300">
                <a:solidFill>
                  <a:srgbClr val="8FA6BE"/>
                </a:solidFill>
                <a:latin typeface="微软雅黑"/>
                <a:ea typeface="微软雅黑"/>
              </a:rPr>
              <a:t>  FastMCP 依赖多，pip 只有 146 KB/s，装到一半必卡死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880360"/>
            <a:ext cx="82296" cy="82296"/>
          </a:xfrm>
          <a:prstGeom prst="ellipse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2788920"/>
            <a:ext cx="51206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b="1">
                <a:solidFill>
                  <a:srgbClr val="E8F1FA"/>
                </a:solidFill>
                <a:latin typeface="微软雅黑"/>
                <a:ea typeface="微软雅黑"/>
              </a:rPr>
              <a:t>怎么做的</a:t>
            </a:r>
            <a:r>
              <a:rPr sz="1300">
                <a:solidFill>
                  <a:srgbClr val="8FA6BE"/>
                </a:solidFill>
                <a:latin typeface="微软雅黑"/>
                <a:ea typeface="微软雅黑"/>
              </a:rPr>
              <a:t>  标准库 http.server 实现 initialize / tools.list / tools.call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840479"/>
            <a:ext cx="82296" cy="82296"/>
          </a:xfrm>
          <a:prstGeom prst="ellipse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3749039"/>
            <a:ext cx="51206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b="1">
                <a:solidFill>
                  <a:srgbClr val="E8F1FA"/>
                </a:solidFill>
                <a:latin typeface="微软雅黑"/>
                <a:ea typeface="微软雅黑"/>
              </a:rPr>
              <a:t>留下了什么</a:t>
            </a:r>
            <a:r>
              <a:rPr sz="1300">
                <a:solidFill>
                  <a:srgbClr val="8FA6BE"/>
                </a:solidFill>
                <a:latin typeface="微软雅黑"/>
                <a:ea typeface="微软雅黑"/>
              </a:rPr>
              <a:t>  execute_sqlstatement、list_tables 两个工具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3434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5A524"/>
                </a:solidFill>
                <a:latin typeface="微软雅黑"/>
                <a:ea typeface="微软雅黑"/>
              </a:rPr>
              <a:t>踩到的协议坑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54880"/>
            <a:ext cx="5212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8FA6BE"/>
                </a:solidFill>
                <a:latin typeface="微软雅黑"/>
                <a:ea typeface="微软雅黑"/>
              </a:rPr>
              <a:t>通知消息返回 204 No Content → Dify 报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8FA6BE"/>
                </a:solidFill>
                <a:latin typeface="微软雅黑"/>
                <a:ea typeface="微软雅黑"/>
              </a:rPr>
              <a:t>「Invalid JSON: EOF while parsing a value」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8FA6BE"/>
                </a:solidFill>
                <a:latin typeface="微软雅黑"/>
                <a:ea typeface="微软雅黑"/>
              </a:rPr>
              <a:t>改为 202 Accepted 后握手成功。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783080"/>
            <a:ext cx="5120640" cy="4023360"/>
          </a:xfrm>
          <a:prstGeom prst="roundRect">
            <a:avLst>
              <a:gd name="adj" fmla="val 10000"/>
            </a:avLst>
          </a:prstGeom>
          <a:solidFill>
            <a:srgbClr val="12294A"/>
          </a:solidFill>
          <a:ln w="12700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96596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3DC8F0"/>
                </a:solidFill>
                <a:latin typeface="微软雅黑"/>
                <a:ea typeface="微软雅黑"/>
              </a:rPr>
              <a:t>实测链路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423160"/>
            <a:ext cx="4663440" cy="658368"/>
          </a:xfrm>
          <a:prstGeom prst="roundRect">
            <a:avLst>
              <a:gd name="adj" fmla="val 16000"/>
            </a:avLst>
          </a:prstGeom>
          <a:solidFill>
            <a:srgbClr val="16335A"/>
          </a:solidFill>
          <a:ln w="12700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49631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F1FA"/>
                </a:solidFill>
                <a:latin typeface="微软雅黑"/>
                <a:ea typeface="微软雅黑"/>
              </a:rPr>
              <a:t>Dify 工作流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770632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FA6BE"/>
                </a:solidFill>
                <a:latin typeface="微软雅黑"/>
                <a:ea typeface="微软雅黑"/>
              </a:rPr>
              <a:t>代码节点拼 SQL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3264408"/>
            <a:ext cx="4663440" cy="658368"/>
          </a:xfrm>
          <a:prstGeom prst="roundRect">
            <a:avLst>
              <a:gd name="adj" fmla="val 16000"/>
            </a:avLst>
          </a:prstGeom>
          <a:solidFill>
            <a:srgbClr val="16335A"/>
          </a:solidFill>
          <a:ln w="12700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333756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F1FA"/>
                </a:solidFill>
                <a:latin typeface="微软雅黑"/>
                <a:ea typeface="微软雅黑"/>
              </a:rPr>
              <a:t>MCP 服务 :8095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611879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FA6BE"/>
                </a:solidFill>
                <a:latin typeface="微软雅黑"/>
                <a:ea typeface="微软雅黑"/>
              </a:rPr>
              <a:t>校验 + 执行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4105656"/>
            <a:ext cx="4663440" cy="658368"/>
          </a:xfrm>
          <a:prstGeom prst="roundRect">
            <a:avLst>
              <a:gd name="adj" fmla="val 16000"/>
            </a:avLst>
          </a:prstGeom>
          <a:solidFill>
            <a:srgbClr val="16335A"/>
          </a:solidFill>
          <a:ln w="12700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417880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F1FA"/>
                </a:solidFill>
                <a:latin typeface="微软雅黑"/>
                <a:ea typeface="微软雅黑"/>
              </a:rPr>
              <a:t>MySQL :3306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453128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FA6BE"/>
                </a:solidFill>
                <a:latin typeface="微软雅黑"/>
                <a:ea typeface="微软雅黑"/>
              </a:rPr>
              <a:t>写入 chathistory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4946904"/>
            <a:ext cx="4663440" cy="658368"/>
          </a:xfrm>
          <a:prstGeom prst="roundRect">
            <a:avLst>
              <a:gd name="adj" fmla="val 16000"/>
            </a:avLst>
          </a:prstGeom>
          <a:solidFill>
            <a:srgbClr val="16335A"/>
          </a:solidFill>
          <a:ln w="12700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502005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F1FA"/>
                </a:solidFill>
                <a:latin typeface="微软雅黑"/>
                <a:ea typeface="微软雅黑"/>
              </a:rPr>
              <a:t>返回结果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5294376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FA6BE"/>
                </a:solidFill>
                <a:latin typeface="微软雅黑"/>
                <a:ea typeface="微软雅黑"/>
              </a:rPr>
              <a:t>行数 / 错误信息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59436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FA6BE"/>
                </a:solidFill>
                <a:latin typeface="微软雅黑"/>
                <a:ea typeface="微软雅黑"/>
              </a:rPr>
              <a:t>线上主链路最终改由 Flask 直连数据库（见下页）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7391"/>
                </a:solidFill>
                <a:latin typeface="微软雅黑"/>
                <a:ea typeface="微软雅黑"/>
              </a:rPr>
              <a:t>基于 Dify 工作流的智能客服助手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11535" y="635508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7391"/>
                </a:solidFill>
                <a:latin typeface="微软雅黑"/>
                <a:ea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82296" cy="566928"/>
          </a:xfrm>
          <a:prstGeom prst="rect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8F1FA"/>
                </a:solidFill>
                <a:latin typeface="微软雅黑"/>
                <a:ea typeface="微软雅黑"/>
              </a:rPr>
              <a:t>微信公众号接入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11556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FA6BE"/>
                </a:solidFill>
                <a:latin typeface="微软雅黑"/>
                <a:ea typeface="微软雅黑"/>
              </a:rPr>
              <a:t>5 秒是硬约束，每一毫秒都要算清楚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0820095" cy="10972"/>
          </a:xfrm>
          <a:prstGeom prst="rect">
            <a:avLst/>
          </a:prstGeom>
          <a:solidFill>
            <a:srgbClr val="2A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783080"/>
          <a:ext cx="5577839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5758"/>
                <a:gridCol w="1297172"/>
                <a:gridCol w="2334909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环节</a:t>
                      </a:r>
                    </a:p>
                  </a:txBody>
                  <a:tcPr marL="73152" marR="54864" anchor="ctr">
                    <a:solidFill>
                      <a:srgbClr val="1633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耗时</a:t>
                      </a:r>
                    </a:p>
                  </a:txBody>
                  <a:tcPr marL="73152" marR="54864" anchor="ctr">
                    <a:solidFill>
                      <a:srgbClr val="1633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处置</a:t>
                      </a:r>
                    </a:p>
                  </a:txBody>
                  <a:tcPr marL="73152" marR="54864" anchor="ctr">
                    <a:solidFill>
                      <a:srgbClr val="16335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签名校验 + AES 解密</a:t>
                      </a:r>
                    </a:p>
                  </a:txBody>
                  <a:tcPr marL="73152" marR="54864" anchor="ctr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&lt; 10 ms</a:t>
                      </a:r>
                    </a:p>
                  </a:txBody>
                  <a:tcPr marL="73152" marR="54864" anchor="ctr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同步执行</a:t>
                      </a:r>
                    </a:p>
                  </a:txBody>
                  <a:tcPr marL="73152" marR="54864" anchor="ctr">
                    <a:solidFill>
                      <a:srgbClr val="1229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Dify 工作流</a:t>
                      </a:r>
                    </a:p>
                  </a:txBody>
                  <a:tcPr marL="73152" marR="54864" anchor="ctr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1.4 ~ 3.0 s</a:t>
                      </a:r>
                    </a:p>
                  </a:txBody>
                  <a:tcPr marL="73152" marR="54864" anchor="ctr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超时 4.8 s，超时返回兜底话术</a:t>
                      </a:r>
                    </a:p>
                  </a:txBody>
                  <a:tcPr marL="73152" marR="54864" anchor="ctr">
                    <a:solidFill>
                      <a:srgbClr val="0A193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MySQL 落库</a:t>
                      </a:r>
                    </a:p>
                  </a:txBody>
                  <a:tcPr marL="73152" marR="54864" anchor="ctr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15 ~ 30 ms</a:t>
                      </a:r>
                    </a:p>
                  </a:txBody>
                  <a:tcPr marL="73152" marR="54864" anchor="ctr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后台线程，不阻塞回复</a:t>
                      </a:r>
                    </a:p>
                  </a:txBody>
                  <a:tcPr marL="73152" marR="54864" anchor="ctr">
                    <a:solidFill>
                      <a:srgbClr val="1229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frp + 网络往返</a:t>
                      </a:r>
                    </a:p>
                  </a:txBody>
                  <a:tcPr marL="73152" marR="54864" anchor="ctr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&lt; 15 ms</a:t>
                      </a:r>
                    </a:p>
                  </a:txBody>
                  <a:tcPr marL="73152" marR="54864" anchor="ctr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内网直连</a:t>
                      </a:r>
                    </a:p>
                  </a:txBody>
                  <a:tcPr marL="73152" marR="54864" anchor="ctr">
                    <a:solidFill>
                      <a:srgbClr val="0A193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4983480"/>
            <a:ext cx="5486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8FA6BE"/>
                </a:solidFill>
                <a:latin typeface="微软雅黑"/>
                <a:ea typeface="微软雅黑"/>
              </a:rPr>
              <a:t>关键决策：把落库从 Dify 的 MCP 节点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8FA6BE"/>
                </a:solidFill>
                <a:latin typeface="微软雅黑"/>
                <a:ea typeface="微软雅黑"/>
              </a:rPr>
              <a:t>改到 Flask 后台线程。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8FA6BE"/>
                </a:solidFill>
                <a:latin typeface="微软雅黑"/>
                <a:ea typeface="微软雅黑"/>
              </a:rPr>
              <a:t>原因：Dify 调 MCP 有约 4.5 秒固定尖峰，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8FA6BE"/>
                </a:solidFill>
                <a:latin typeface="微软雅黑"/>
                <a:ea typeface="微软雅黑"/>
              </a:rPr>
              <a:t>而 MCP 自身只花 7 毫秒。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3DC8F0"/>
                </a:solidFill>
                <a:latin typeface="微软雅黑"/>
                <a:ea typeface="微软雅黑"/>
              </a:rPr>
              <a:t>10 次连续压测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3746754"/>
            <a:ext cx="310896" cy="1282446"/>
          </a:xfrm>
          <a:prstGeom prst="rect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5976" y="50749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8FA6BE"/>
                </a:solidFill>
                <a:latin typeface="微软雅黑"/>
                <a:ea typeface="微软雅黑"/>
              </a:rPr>
              <a:t>1.53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78040" y="3252216"/>
            <a:ext cx="310896" cy="1776984"/>
          </a:xfrm>
          <a:prstGeom prst="rect">
            <a:avLst/>
          </a:prstGeom>
          <a:solidFill>
            <a:srgbClr val="163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23176" y="50749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8FA6BE"/>
                </a:solidFill>
                <a:latin typeface="微软雅黑"/>
                <a:ea typeface="微软雅黑"/>
              </a:rPr>
              <a:t>2.12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3746754"/>
            <a:ext cx="310896" cy="1282446"/>
          </a:xfrm>
          <a:prstGeom prst="rect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0375" y="50749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8FA6BE"/>
                </a:solidFill>
                <a:latin typeface="微软雅黑"/>
                <a:ea typeface="微软雅黑"/>
              </a:rPr>
              <a:t>1.53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3696461"/>
            <a:ext cx="310896" cy="1332738"/>
          </a:xfrm>
          <a:prstGeom prst="rect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7575" y="50749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8FA6BE"/>
                </a:solidFill>
                <a:latin typeface="微软雅黑"/>
                <a:ea typeface="微软雅黑"/>
              </a:rPr>
              <a:t>1.59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49640" y="3654552"/>
            <a:ext cx="310896" cy="1374648"/>
          </a:xfrm>
          <a:prstGeom prst="rect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94776" y="50749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8FA6BE"/>
                </a:solidFill>
                <a:latin typeface="微软雅黑"/>
                <a:ea typeface="微软雅黑"/>
              </a:rPr>
              <a:t>1.64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3729990"/>
            <a:ext cx="310896" cy="1299210"/>
          </a:xfrm>
          <a:prstGeom prst="rect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51976" y="50749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8FA6BE"/>
                </a:solidFill>
                <a:latin typeface="微软雅黑"/>
                <a:ea typeface="微软雅黑"/>
              </a:rPr>
              <a:t>1.55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64040" y="3637788"/>
            <a:ext cx="310896" cy="1391412"/>
          </a:xfrm>
          <a:prstGeom prst="rect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09176" y="50749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8FA6BE"/>
                </a:solidFill>
                <a:latin typeface="微软雅黑"/>
                <a:ea typeface="微软雅黑"/>
              </a:rPr>
              <a:t>1.66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21240" y="3277362"/>
            <a:ext cx="310896" cy="1751838"/>
          </a:xfrm>
          <a:prstGeom prst="rect">
            <a:avLst/>
          </a:prstGeom>
          <a:solidFill>
            <a:srgbClr val="163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66376" y="50749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8FA6BE"/>
                </a:solidFill>
                <a:latin typeface="微软雅黑"/>
                <a:ea typeface="微软雅黑"/>
              </a:rPr>
              <a:t>2.09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78440" y="3729990"/>
            <a:ext cx="310896" cy="1299210"/>
          </a:xfrm>
          <a:prstGeom prst="rect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23576" y="50749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8FA6BE"/>
                </a:solidFill>
                <a:latin typeface="微软雅黑"/>
                <a:ea typeface="微软雅黑"/>
              </a:rPr>
              <a:t>1.55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835640" y="3260597"/>
            <a:ext cx="310896" cy="1768602"/>
          </a:xfrm>
          <a:prstGeom prst="rect">
            <a:avLst/>
          </a:prstGeom>
          <a:solidFill>
            <a:srgbClr val="163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0776" y="50749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8FA6BE"/>
                </a:solidFill>
                <a:latin typeface="微软雅黑"/>
                <a:ea typeface="微软雅黑"/>
              </a:rPr>
              <a:t>2.11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22402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E8F1FA"/>
                </a:solidFill>
                <a:latin typeface="微软雅黑"/>
                <a:ea typeface="微软雅黑"/>
              </a:rPr>
              <a:t>中位数 1.65 s   9/10 落在 4.2 s 窗口内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26517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F5A524"/>
                </a:solidFill>
                <a:latin typeface="微软雅黑"/>
                <a:ea typeface="微软雅黑"/>
              </a:rPr>
              <a:t>首次冷启动 20.67 s → 已用预热消除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7391"/>
                </a:solidFill>
                <a:latin typeface="微软雅黑"/>
                <a:ea typeface="微软雅黑"/>
              </a:rPr>
              <a:t>基于 Dify 工作流的智能客服助手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11535" y="635508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7391"/>
                </a:solidFill>
                <a:latin typeface="微软雅黑"/>
                <a:ea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82296" cy="566928"/>
          </a:xfrm>
          <a:prstGeom prst="rect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8F1FA"/>
                </a:solidFill>
                <a:latin typeface="微软雅黑"/>
                <a:ea typeface="微软雅黑"/>
              </a:rPr>
              <a:t>敏感消息拦截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11556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FA6BE"/>
                </a:solidFill>
                <a:latin typeface="微软雅黑"/>
                <a:ea typeface="微软雅黑"/>
              </a:rPr>
              <a:t>语义召回对辱骂天然失效，必须在调模型之前拦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0820095" cy="10972"/>
          </a:xfrm>
          <a:prstGeom prst="rect">
            <a:avLst/>
          </a:prstGeom>
          <a:solidFill>
            <a:srgbClr val="2A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8FA6BE"/>
                </a:solidFill>
                <a:latin typeface="微软雅黑"/>
                <a:ea typeface="微软雅黑"/>
              </a:rPr>
              <a:t>为什么加这一层：知识库靠相似度召回，辱骂语句与任何业务知识的相似度都接近 0，检索必然为空。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14600"/>
            <a:ext cx="10607040" cy="1051560"/>
          </a:xfrm>
          <a:prstGeom prst="roundRect">
            <a:avLst>
              <a:gd name="adj" fmla="val 10000"/>
            </a:avLst>
          </a:prstGeom>
          <a:solidFill>
            <a:srgbClr val="12294A"/>
          </a:solidFill>
          <a:ln w="12700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514600"/>
            <a:ext cx="64008" cy="105156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65176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A524"/>
                </a:solidFill>
                <a:latin typeface="微软雅黑"/>
                <a:ea typeface="微软雅黑"/>
              </a:rPr>
              <a:t>L3  人身辱骂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08152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FA6BE"/>
                </a:solidFill>
                <a:latin typeface="微软雅黑"/>
                <a:ea typeface="微软雅黑"/>
              </a:rPr>
              <a:t>含侮辱性词汇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715768"/>
            <a:ext cx="74980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8F1FA"/>
                </a:solidFill>
                <a:latin typeface="微软雅黑"/>
                <a:ea typeface="微软雅黑"/>
              </a:rPr>
              <a:t>划清边界、声明记录在案、给转人工出口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E8F1FA"/>
                </a:solidFill>
                <a:latin typeface="微软雅黑"/>
                <a:ea typeface="微软雅黑"/>
              </a:rPr>
              <a:t>不调用模型，响应 &lt; 0.5 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49039"/>
            <a:ext cx="10607040" cy="1051560"/>
          </a:xfrm>
          <a:prstGeom prst="roundRect">
            <a:avLst>
              <a:gd name="adj" fmla="val 10000"/>
            </a:avLst>
          </a:prstGeom>
          <a:solidFill>
            <a:srgbClr val="12294A"/>
          </a:solidFill>
          <a:ln w="12700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749039"/>
            <a:ext cx="64008" cy="1051560"/>
          </a:xfrm>
          <a:prstGeom prst="rect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8862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DC8F0"/>
                </a:solidFill>
                <a:latin typeface="微软雅黑"/>
                <a:ea typeface="微软雅黑"/>
              </a:rPr>
              <a:t>L2  威胁投诉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31596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FA6BE"/>
                </a:solidFill>
                <a:latin typeface="微软雅黑"/>
                <a:ea typeface="微软雅黑"/>
              </a:rPr>
              <a:t>12315 / 曝光 / 起诉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950207"/>
            <a:ext cx="74980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8F1FA"/>
                </a:solidFill>
                <a:latin typeface="微软雅黑"/>
                <a:ea typeface="微软雅黑"/>
              </a:rPr>
              <a:t>承认对方权利，索要订单号与事实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E8F1FA"/>
                </a:solidFill>
                <a:latin typeface="微软雅黑"/>
                <a:ea typeface="微软雅黑"/>
              </a:rPr>
              <a:t>引导走售后流程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983480"/>
            <a:ext cx="10607040" cy="1051560"/>
          </a:xfrm>
          <a:prstGeom prst="roundRect">
            <a:avLst>
              <a:gd name="adj" fmla="val 10000"/>
            </a:avLst>
          </a:prstGeom>
          <a:solidFill>
            <a:srgbClr val="12294A"/>
          </a:solidFill>
          <a:ln w="12700">
            <a:solidFill>
              <a:srgbClr val="2A4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983480"/>
            <a:ext cx="64008" cy="1051560"/>
          </a:xfrm>
          <a:prstGeom prst="rect">
            <a:avLst/>
          </a:prstGeom>
          <a:solidFill>
            <a:srgbClr val="8FA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1206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FA6BE"/>
                </a:solidFill>
                <a:latin typeface="微软雅黑"/>
                <a:ea typeface="微软雅黑"/>
              </a:rPr>
              <a:t>L1  一般不满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55040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FA6BE"/>
                </a:solidFill>
                <a:latin typeface="微软雅黑"/>
                <a:ea typeface="微软雅黑"/>
              </a:rPr>
              <a:t>抱怨质量、价格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184648"/>
            <a:ext cx="74980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8F1FA"/>
                </a:solidFill>
                <a:latin typeface="微软雅黑"/>
                <a:ea typeface="微软雅黑"/>
              </a:rPr>
              <a:t>不拦截，交由模型按既有话术安抚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FA6BE"/>
                </a:solidFill>
                <a:latin typeface="微软雅黑"/>
                <a:ea typeface="微软雅黑"/>
              </a:rPr>
              <a:t>拦截的样本同样写库，作为舆情预警的原料。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7391"/>
                </a:solidFill>
                <a:latin typeface="微软雅黑"/>
                <a:ea typeface="微软雅黑"/>
              </a:rPr>
              <a:t>基于 Dify 工作流的智能客服助手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1535" y="635508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7391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82296" cy="566928"/>
          </a:xfrm>
          <a:prstGeom prst="rect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8F1FA"/>
                </a:solidFill>
                <a:latin typeface="微软雅黑"/>
                <a:ea typeface="微软雅黑"/>
              </a:rPr>
              <a:t>数据分析：从 8.4 万条到 2.2 万条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11556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FA6BE"/>
                </a:solidFill>
                <a:latin typeface="微软雅黑"/>
                <a:ea typeface="微软雅黑"/>
              </a:rPr>
              <a:t>清洗不是删数据，是定义什么叫「有效会话」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0820095" cy="10972"/>
          </a:xfrm>
          <a:prstGeom prst="rect">
            <a:avLst/>
          </a:prstGeom>
          <a:solidFill>
            <a:srgbClr val="2A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5760720" cy="2880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12280" y="17830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DC8F0"/>
                </a:solidFill>
                <a:latin typeface="微软雅黑"/>
                <a:ea typeface="微软雅黑"/>
              </a:rPr>
              <a:t>清洗规则</a:t>
            </a:r>
          </a:p>
        </p:txBody>
      </p:sp>
      <p:sp>
        <p:nvSpPr>
          <p:cNvPr id="9" name="Oval 8"/>
          <p:cNvSpPr/>
          <p:nvPr/>
        </p:nvSpPr>
        <p:spPr>
          <a:xfrm>
            <a:off x="6812280" y="2331720"/>
            <a:ext cx="82296" cy="82296"/>
          </a:xfrm>
          <a:prstGeom prst="ellipse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50024" y="2240280"/>
            <a:ext cx="457200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200" b="1">
                <a:solidFill>
                  <a:srgbClr val="E8F1FA"/>
                </a:solidFill>
                <a:latin typeface="微软雅黑"/>
                <a:ea typeface="微软雅黑"/>
              </a:rPr>
              <a:t>去重</a:t>
            </a:r>
            <a:r>
              <a:rPr sz="1200">
                <a:solidFill>
                  <a:srgbClr val="8FA6BE"/>
                </a:solidFill>
                <a:latin typeface="微软雅黑"/>
                <a:ea typeface="微软雅黑"/>
              </a:rPr>
              <a:t>  按内容完全一致合并</a:t>
            </a:r>
          </a:p>
        </p:txBody>
      </p:sp>
      <p:sp>
        <p:nvSpPr>
          <p:cNvPr id="11" name="Oval 10"/>
          <p:cNvSpPr/>
          <p:nvPr/>
        </p:nvSpPr>
        <p:spPr>
          <a:xfrm>
            <a:off x="6812280" y="3108960"/>
            <a:ext cx="82296" cy="82296"/>
          </a:xfrm>
          <a:prstGeom prst="ellipse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50024" y="3017520"/>
            <a:ext cx="457200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200" b="1">
                <a:solidFill>
                  <a:srgbClr val="E8F1FA"/>
                </a:solidFill>
                <a:latin typeface="微软雅黑"/>
                <a:ea typeface="微软雅黑"/>
              </a:rPr>
              <a:t>去噪</a:t>
            </a:r>
            <a:r>
              <a:rPr sz="1200">
                <a:solidFill>
                  <a:srgbClr val="8FA6BE"/>
                </a:solidFill>
                <a:latin typeface="微软雅黑"/>
                <a:ea typeface="微软雅黑"/>
              </a:rPr>
              <a:t>  剔除系统占位、长度 &lt; 4</a:t>
            </a:r>
          </a:p>
        </p:txBody>
      </p:sp>
      <p:sp>
        <p:nvSpPr>
          <p:cNvPr id="13" name="Oval 12"/>
          <p:cNvSpPr/>
          <p:nvPr/>
        </p:nvSpPr>
        <p:spPr>
          <a:xfrm>
            <a:off x="6812280" y="3886200"/>
            <a:ext cx="82296" cy="82296"/>
          </a:xfrm>
          <a:prstGeom prst="ellipse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50024" y="3794760"/>
            <a:ext cx="457200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200" b="1">
                <a:solidFill>
                  <a:srgbClr val="E8F1FA"/>
                </a:solidFill>
                <a:latin typeface="微软雅黑"/>
                <a:ea typeface="微软雅黑"/>
              </a:rPr>
              <a:t>过滤</a:t>
            </a:r>
            <a:r>
              <a:rPr sz="1200">
                <a:solidFill>
                  <a:srgbClr val="8FA6BE"/>
                </a:solidFill>
                <a:latin typeface="微软雅黑"/>
                <a:ea typeface="微软雅黑"/>
              </a:rPr>
              <a:t>  剔除广告、纯数字、纯标点</a:t>
            </a:r>
          </a:p>
        </p:txBody>
      </p:sp>
      <p:sp>
        <p:nvSpPr>
          <p:cNvPr id="15" name="Oval 14"/>
          <p:cNvSpPr/>
          <p:nvPr/>
        </p:nvSpPr>
        <p:spPr>
          <a:xfrm>
            <a:off x="6812280" y="4663440"/>
            <a:ext cx="82296" cy="82296"/>
          </a:xfrm>
          <a:prstGeom prst="ellipse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50024" y="4572000"/>
            <a:ext cx="457200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200" b="1">
                <a:solidFill>
                  <a:srgbClr val="E8F1FA"/>
                </a:solidFill>
                <a:latin typeface="微软雅黑"/>
                <a:ea typeface="微软雅黑"/>
              </a:rPr>
              <a:t>窗口</a:t>
            </a:r>
            <a:r>
              <a:rPr sz="1200">
                <a:solidFill>
                  <a:srgbClr val="8FA6BE"/>
                </a:solidFill>
                <a:latin typeface="微软雅黑"/>
                <a:ea typeface="微软雅黑"/>
              </a:rPr>
              <a:t>  取最近完整 12 个月做趋势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5257800"/>
            <a:ext cx="4572000" cy="9144"/>
          </a:xfrm>
          <a:prstGeom prst="rect">
            <a:avLst/>
          </a:prstGeom>
          <a:solidFill>
            <a:srgbClr val="2A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539496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8FA6BE"/>
                </a:solidFill>
                <a:latin typeface="微软雅黑"/>
                <a:ea typeface="微软雅黑"/>
              </a:rPr>
              <a:t>LDA 主题建模一致性 0.437，取 5 个主题：</a:t>
            </a:r>
          </a:p>
          <a:p>
            <a:pPr algn="l">
              <a:lnSpc>
                <a:spcPct val="145000"/>
              </a:lnSpc>
            </a:pPr>
            <a:r>
              <a:rPr sz="1150" b="0">
                <a:solidFill>
                  <a:srgbClr val="8FA6BE"/>
                </a:solidFill>
                <a:latin typeface="微软雅黑"/>
                <a:ea typeface="微软雅黑"/>
              </a:rPr>
              <a:t>售后退换 / 物流时效 / 退款质量 / 选购 / 配送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7391"/>
                </a:solidFill>
                <a:latin typeface="微软雅黑"/>
                <a:ea typeface="微软雅黑"/>
              </a:rPr>
              <a:t>基于 Dify 工作流的智能客服助手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635508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7391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82296" cy="566928"/>
          </a:xfrm>
          <a:prstGeom prst="rect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8F1FA"/>
                </a:solidFill>
                <a:latin typeface="微软雅黑"/>
                <a:ea typeface="微软雅黑"/>
              </a:rPr>
              <a:t>情感分析：先看分布，再下结论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11556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FA6BE"/>
                </a:solidFill>
                <a:latin typeface="微软雅黑"/>
                <a:ea typeface="微软雅黑"/>
              </a:rPr>
              <a:t>82.6% 负面不是结论，是模型没在工作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0820095" cy="10972"/>
          </a:xfrm>
          <a:prstGeom prst="rect">
            <a:avLst/>
          </a:prstGeom>
          <a:solidFill>
            <a:srgbClr val="2A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_sent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6492240" cy="3421586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772400" y="1920240"/>
            <a:ext cx="82296" cy="82296"/>
          </a:xfrm>
          <a:prstGeom prst="ellipse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0144" y="1828800"/>
            <a:ext cx="393192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50" b="1">
                <a:solidFill>
                  <a:srgbClr val="E8F1FA"/>
                </a:solidFill>
                <a:latin typeface="微软雅黑"/>
                <a:ea typeface="微软雅黑"/>
              </a:rPr>
              <a:t>问题</a:t>
            </a:r>
            <a:r>
              <a:rPr sz="1150">
                <a:solidFill>
                  <a:srgbClr val="8FA6BE"/>
                </a:solidFill>
                <a:latin typeface="微软雅黑"/>
                <a:ea typeface="微软雅黑"/>
              </a:rPr>
              <a:t>  SnowNLP 用商品评论训练，对疑问句一律给极低分</a:t>
            </a:r>
          </a:p>
        </p:txBody>
      </p:sp>
      <p:sp>
        <p:nvSpPr>
          <p:cNvPr id="10" name="Oval 9"/>
          <p:cNvSpPr/>
          <p:nvPr/>
        </p:nvSpPr>
        <p:spPr>
          <a:xfrm>
            <a:off x="7772400" y="2880360"/>
            <a:ext cx="82296" cy="82296"/>
          </a:xfrm>
          <a:prstGeom prst="ellipse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0144" y="2788920"/>
            <a:ext cx="393192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50" b="1">
                <a:solidFill>
                  <a:srgbClr val="E8F1FA"/>
                </a:solidFill>
                <a:latin typeface="微软雅黑"/>
                <a:ea typeface="微软雅黑"/>
              </a:rPr>
              <a:t>修正</a:t>
            </a:r>
            <a:r>
              <a:rPr sz="1150">
                <a:solidFill>
                  <a:srgbClr val="8FA6BE"/>
                </a:solidFill>
                <a:latin typeface="微软雅黑"/>
                <a:ea typeface="微软雅黑"/>
              </a:rPr>
              <a:t>  强词优先 + 疑问句归中性 + 收紧阈值到 0.75/0.15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0" y="3840479"/>
            <a:ext cx="82296" cy="82296"/>
          </a:xfrm>
          <a:prstGeom prst="ellipse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0144" y="3749039"/>
            <a:ext cx="393192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50" b="1">
                <a:solidFill>
                  <a:srgbClr val="E8F1FA"/>
                </a:solidFill>
                <a:latin typeface="微软雅黑"/>
                <a:ea typeface="微软雅黑"/>
              </a:rPr>
              <a:t>结果</a:t>
            </a:r>
            <a:r>
              <a:rPr sz="1150">
                <a:solidFill>
                  <a:srgbClr val="8FA6BE"/>
                </a:solidFill>
                <a:latin typeface="微软雅黑"/>
                <a:ea typeface="微软雅黑"/>
              </a:rPr>
              <a:t>  负面 82.6% → 40.7%，中性成为主体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892040"/>
            <a:ext cx="3840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F5A524"/>
                </a:solidFill>
                <a:latin typeface="微软雅黑"/>
                <a:ea typeface="微软雅黑"/>
              </a:rPr>
              <a:t>另一个如实记录：全语料 0 条「谢谢 / 满意」，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F5A524"/>
                </a:solidFill>
                <a:latin typeface="微软雅黑"/>
                <a:ea typeface="微软雅黑"/>
              </a:rPr>
              <a:t>所以正面只有 1.12% —— 这是语料属性，不是算法错。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7391"/>
                </a:solidFill>
                <a:latin typeface="微软雅黑"/>
                <a:ea typeface="微软雅黑"/>
              </a:rPr>
              <a:t>基于 Dify 工作流的智能客服助手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35508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7391"/>
                </a:solidFill>
                <a:latin typeface="微软雅黑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82296" cy="566928"/>
          </a:xfrm>
          <a:prstGeom prst="rect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8F1FA"/>
                </a:solidFill>
                <a:latin typeface="微软雅黑"/>
                <a:ea typeface="微软雅黑"/>
              </a:rPr>
              <a:t>结论与改进方向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72768"/>
            <a:ext cx="10820095" cy="10972"/>
          </a:xfrm>
          <a:prstGeom prst="rect">
            <a:avLst/>
          </a:prstGeom>
          <a:solidFill>
            <a:srgbClr val="2A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539496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01752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指标</a:t>
                      </a:r>
                    </a:p>
                  </a:txBody>
                  <a:tcPr marL="73152" marR="54864" anchor="ctr">
                    <a:solidFill>
                      <a:srgbClr val="1633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结果</a:t>
                      </a:r>
                    </a:p>
                  </a:txBody>
                  <a:tcPr marL="73152" marR="54864" anchor="ctr">
                    <a:solidFill>
                      <a:srgbClr val="16335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任务完成度</a:t>
                      </a:r>
                    </a:p>
                  </a:txBody>
                  <a:tcPr marL="73152" marR="54864" anchor="ctr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14 / 14</a:t>
                      </a:r>
                    </a:p>
                  </a:txBody>
                  <a:tcPr marL="73152" marR="54864" anchor="ctr">
                    <a:solidFill>
                      <a:srgbClr val="1229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微信端到端响应</a:t>
                      </a:r>
                    </a:p>
                  </a:txBody>
                  <a:tcPr marL="73152" marR="54864" anchor="ctr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中位数 1.65 s，9/10 ≤ 4.2 s</a:t>
                      </a:r>
                    </a:p>
                  </a:txBody>
                  <a:tcPr marL="73152" marR="54864" anchor="ctr">
                    <a:solidFill>
                      <a:srgbClr val="0A19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本地模型生成速度</a:t>
                      </a:r>
                    </a:p>
                  </a:txBody>
                  <a:tcPr marL="73152" marR="54864" anchor="ctr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32.7 token/s（80 token 0.62 s）</a:t>
                      </a:r>
                    </a:p>
                  </a:txBody>
                  <a:tcPr marL="73152" marR="54864" anchor="ctr">
                    <a:solidFill>
                      <a:srgbClr val="1229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线上会话沉淀</a:t>
                      </a:r>
                    </a:p>
                  </a:txBody>
                  <a:tcPr marL="73152" marR="54864" anchor="ctr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128 条</a:t>
                      </a:r>
                    </a:p>
                  </a:txBody>
                  <a:tcPr marL="73152" marR="54864" anchor="ctr">
                    <a:solidFill>
                      <a:srgbClr val="0A19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数据分析规模</a:t>
                      </a:r>
                    </a:p>
                  </a:txBody>
                  <a:tcPr marL="73152" marR="54864" anchor="ctr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E8F1FA"/>
                          </a:solidFill>
                          <a:latin typeface="微软雅黑"/>
                          <a:ea typeface="微软雅黑"/>
                        </a:rPr>
                        <a:t>有效会话 22,575 条，主题 5 类</a:t>
                      </a:r>
                    </a:p>
                  </a:txBody>
                  <a:tcPr marL="73152" marR="54864" anchor="ctr">
                    <a:solidFill>
                      <a:srgbClr val="12294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37960" y="17830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DC8F0"/>
                </a:solidFill>
                <a:latin typeface="微软雅黑"/>
                <a:ea typeface="微软雅黑"/>
              </a:rPr>
              <a:t>三条可复用的经验</a:t>
            </a:r>
          </a:p>
        </p:txBody>
      </p:sp>
      <p:sp>
        <p:nvSpPr>
          <p:cNvPr id="8" name="Oval 7"/>
          <p:cNvSpPr/>
          <p:nvPr/>
        </p:nvSpPr>
        <p:spPr>
          <a:xfrm>
            <a:off x="6537960" y="2331720"/>
            <a:ext cx="82296" cy="82296"/>
          </a:xfrm>
          <a:prstGeom prst="ellipse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75704" y="2240280"/>
            <a:ext cx="484632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 b="1">
                <a:solidFill>
                  <a:srgbClr val="E8F1FA"/>
                </a:solidFill>
                <a:latin typeface="微软雅黑"/>
                <a:ea typeface="微软雅黑"/>
              </a:rPr>
              <a:t>从环境查起</a:t>
            </a:r>
            <a:r>
              <a:rPr sz="1100">
                <a:solidFill>
                  <a:srgbClr val="8FA6BE"/>
                </a:solidFill>
                <a:latin typeface="微软雅黑"/>
                <a:ea typeface="微软雅黑"/>
              </a:rPr>
              <a:t>  降频让推理慢十倍，日志却一切正常</a:t>
            </a:r>
          </a:p>
        </p:txBody>
      </p:sp>
      <p:sp>
        <p:nvSpPr>
          <p:cNvPr id="10" name="Oval 9"/>
          <p:cNvSpPr/>
          <p:nvPr/>
        </p:nvSpPr>
        <p:spPr>
          <a:xfrm>
            <a:off x="6537960" y="3291840"/>
            <a:ext cx="82296" cy="82296"/>
          </a:xfrm>
          <a:prstGeom prst="ellipse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75704" y="3200400"/>
            <a:ext cx="484632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 b="1">
                <a:solidFill>
                  <a:srgbClr val="E8F1FA"/>
                </a:solidFill>
                <a:latin typeface="微软雅黑"/>
                <a:ea typeface="微软雅黑"/>
              </a:rPr>
              <a:t>警惕默认值</a:t>
            </a:r>
            <a:r>
              <a:rPr sz="1100">
                <a:solidFill>
                  <a:srgbClr val="8FA6BE"/>
                </a:solidFill>
                <a:latin typeface="微软雅黑"/>
                <a:ea typeface="微软雅黑"/>
              </a:rPr>
              <a:t>  25 秒健康检查 / 64MB 共享内存 / 空的 restart</a:t>
            </a:r>
          </a:p>
        </p:txBody>
      </p:sp>
      <p:sp>
        <p:nvSpPr>
          <p:cNvPr id="12" name="Oval 11"/>
          <p:cNvSpPr/>
          <p:nvPr/>
        </p:nvSpPr>
        <p:spPr>
          <a:xfrm>
            <a:off x="6537960" y="4251960"/>
            <a:ext cx="82296" cy="82296"/>
          </a:xfrm>
          <a:prstGeom prst="ellipse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75704" y="4160520"/>
            <a:ext cx="484632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 b="1">
                <a:solidFill>
                  <a:srgbClr val="E8F1FA"/>
                </a:solidFill>
                <a:latin typeface="微软雅黑"/>
                <a:ea typeface="微软雅黑"/>
              </a:rPr>
              <a:t>看分布不看总数</a:t>
            </a:r>
            <a:r>
              <a:rPr sz="1100">
                <a:solidFill>
                  <a:srgbClr val="8FA6BE"/>
                </a:solidFill>
                <a:latin typeface="微软雅黑"/>
                <a:ea typeface="微软雅黑"/>
              </a:rPr>
              <a:t>  情感指标拆开分位数才发现模型没在判断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534924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8FA6BE"/>
                </a:solidFill>
                <a:latin typeface="微软雅黑"/>
                <a:ea typeface="微软雅黑"/>
              </a:rPr>
              <a:t>下一步：vLLM 提速 · 多轮记忆 · 爬虫增量更新知识库 · 轻量分类器替换关键词表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7391"/>
                </a:solidFill>
                <a:latin typeface="微软雅黑"/>
                <a:ea typeface="微软雅黑"/>
              </a:rPr>
              <a:t>基于 Dify 工作流的智能客服助手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35508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7391"/>
                </a:solidFill>
                <a:latin typeface="微软雅黑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D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37744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4800" b="1">
                <a:solidFill>
                  <a:srgbClr val="E8F1FA"/>
                </a:solidFill>
                <a:latin typeface="微软雅黑"/>
                <a:ea typeface="微软雅黑"/>
              </a:rPr>
              <a:t>谢 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8FA6BE"/>
                </a:solidFill>
                <a:latin typeface="微软雅黑"/>
                <a:ea typeface="微软雅黑"/>
              </a:rPr>
              <a:t>请各位老师批评指正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6052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8FA6BE"/>
                </a:solidFill>
                <a:latin typeface="微软雅黑"/>
                <a:ea typeface="微软雅黑"/>
              </a:rPr>
              <a:t>完整实现过程与 8 个故障复盘见《实训报告》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